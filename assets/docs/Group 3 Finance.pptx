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2" r:id="rId5"/>
    <p:sldId id="275" r:id="rId6"/>
    <p:sldId id="276" r:id="rId7"/>
    <p:sldId id="297" r:id="rId8"/>
    <p:sldId id="299" r:id="rId9"/>
    <p:sldId id="308" r:id="rId10"/>
    <p:sldId id="300" r:id="rId11"/>
    <p:sldId id="310" r:id="rId12"/>
    <p:sldId id="302" r:id="rId13"/>
    <p:sldId id="303" r:id="rId14"/>
    <p:sldId id="304" r:id="rId15"/>
    <p:sldId id="305" r:id="rId16"/>
    <p:sldId id="306" r:id="rId17"/>
    <p:sldId id="307" r:id="rId18"/>
    <p:sldId id="294" r:id="rId19"/>
    <p:sldId id="28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32A"/>
    <a:srgbClr val="446992"/>
    <a:srgbClr val="AEC2D8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8" d="100"/>
          <a:sy n="78" d="100"/>
        </p:scale>
        <p:origin x="178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242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19A3-66B0-2432-B7EC-77F6F121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E4641-05F4-1BE2-0D0C-3E9E7D70D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F19AD-B46B-AC69-6407-46170CEDA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E71E0-CA8C-9B22-91ED-EC6F9258E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47977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3B7-B1D7-19E9-86E1-C2C0839F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A04A4-02DE-A751-F377-7307F1B7B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7E3EF-E57C-AEF0-D4C5-E2B4603CD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3B6BF-5EE4-8457-2505-8029526E5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91485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81BE-46A5-1F6D-4E0C-A6407D65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14D98-6BCA-9B6F-8CF7-5A9A6A676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3D7FB-534C-C2A7-70BE-976C98F3E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2AEB5-81A1-FD59-FCCC-355543563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03881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2C3E-D333-4103-F933-B2584B72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7EA6E-788A-B813-3971-CB3A73285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13E7B-5F3A-8C94-619B-557CA3E4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7FC05-A724-970C-7AD8-5E0312B55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4872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9012-CD59-C536-163D-87EA7A3C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6EDA4-7084-DE07-D6BA-C7BF6CEF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89937-1416-778C-6656-93B501E19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C584D-A253-49B5-5C69-4F715F207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533601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CA88-BDC3-39CE-FD19-0702AB95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870DD-EA17-9327-A87F-8A8E68198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8C147-3E67-19AD-3F37-E942E9C6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F3F3F-A9E2-02DD-D4E8-62C8D8757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519960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766A-5D6A-27AA-E435-8A95BFFA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4574A-D47E-ED46-63B5-B1DEE093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5C690-3C6A-9FA3-1388-ED2B9658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1BC6F-94DD-1B0A-8D7D-59B4B0084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59732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2797-91F0-437D-4C29-98253A6C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A26E7-B592-5E7C-9066-0AE7FA15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8CC07-B34D-DDBD-2232-60FA38B43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2E03E-5FED-F2DA-2FFA-0C7BC37DD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17456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3B6D-8F56-026C-65CD-35B6D230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77DEE-D567-923F-339E-F175BA818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30DEF-0538-0A7B-AB8A-1DEEA072E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E36D-E5AA-929F-3B8B-72C15BCE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9081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E942-6870-3A70-574C-F649B4EA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7FB73-4AA7-394B-1918-3DC6B7CE1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D2077-8D86-D8EB-D6AD-D6ECEB590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34E-F421-AD1C-1FD6-B383FE1F3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35425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Group 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 dirty="0"/>
              <a:t>Group 3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Group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46" y="1024284"/>
            <a:ext cx="6526313" cy="2468187"/>
          </a:xfrm>
        </p:spPr>
        <p:txBody>
          <a:bodyPr/>
          <a:lstStyle/>
          <a:p>
            <a:r>
              <a:rPr lang="en-US" dirty="0"/>
              <a:t>Capital Budgeting Methods Used in Some European Countries and in the United States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04197" y="4034432"/>
            <a:ext cx="2321705" cy="2051735"/>
          </a:xfrm>
        </p:spPr>
        <p:txBody>
          <a:bodyPr/>
          <a:lstStyle/>
          <a:p>
            <a:r>
              <a:rPr lang="en-US" b="1" dirty="0">
                <a:solidFill>
                  <a:srgbClr val="98432A"/>
                </a:solidFill>
              </a:rPr>
              <a:t>Presented By:</a:t>
            </a:r>
          </a:p>
          <a:p>
            <a:r>
              <a:rPr lang="en-US" dirty="0">
                <a:solidFill>
                  <a:srgbClr val="98432A"/>
                </a:solidFill>
              </a:rPr>
              <a:t>Lalit Raj Joshi</a:t>
            </a:r>
          </a:p>
          <a:p>
            <a:r>
              <a:rPr lang="en-US" dirty="0">
                <a:solidFill>
                  <a:srgbClr val="98432A"/>
                </a:solidFill>
              </a:rPr>
              <a:t>Nisha </a:t>
            </a:r>
            <a:r>
              <a:rPr lang="en-US" dirty="0" err="1">
                <a:solidFill>
                  <a:srgbClr val="98432A"/>
                </a:solidFill>
              </a:rPr>
              <a:t>Rouniar</a:t>
            </a:r>
            <a:endParaRPr lang="en-US" dirty="0">
              <a:solidFill>
                <a:srgbClr val="98432A"/>
              </a:solidFill>
            </a:endParaRPr>
          </a:p>
          <a:p>
            <a:r>
              <a:rPr lang="en-US" dirty="0">
                <a:solidFill>
                  <a:srgbClr val="98432A"/>
                </a:solidFill>
              </a:rPr>
              <a:t>Rashik Parajuli</a:t>
            </a:r>
          </a:p>
          <a:p>
            <a:r>
              <a:rPr lang="en-US" dirty="0" err="1">
                <a:solidFill>
                  <a:srgbClr val="98432A"/>
                </a:solidFill>
              </a:rPr>
              <a:t>Sulav</a:t>
            </a:r>
            <a:r>
              <a:rPr lang="en-US" dirty="0">
                <a:solidFill>
                  <a:srgbClr val="98432A"/>
                </a:solidFill>
              </a:rPr>
              <a:t> Poudel</a:t>
            </a:r>
          </a:p>
          <a:p>
            <a:endParaRPr lang="en-US" dirty="0">
              <a:solidFill>
                <a:srgbClr val="98432A"/>
              </a:solidFill>
            </a:endParaRPr>
          </a:p>
          <a:p>
            <a:endParaRPr lang="en-US" dirty="0">
              <a:solidFill>
                <a:srgbClr val="98432A"/>
              </a:solidFill>
            </a:endParaRPr>
          </a:p>
          <a:p>
            <a:endParaRPr lang="en-US" dirty="0">
              <a:solidFill>
                <a:srgbClr val="98432A"/>
              </a:solidFill>
            </a:endParaRP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287537" y="629908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DA4A4EE-CB9F-54C4-EA10-FEDE5298DFE8}"/>
              </a:ext>
            </a:extLst>
          </p:cNvPr>
          <p:cNvSpPr txBox="1">
            <a:spLocks/>
          </p:cNvSpPr>
          <p:nvPr/>
        </p:nvSpPr>
        <p:spPr>
          <a:xfrm>
            <a:off x="491784" y="3442969"/>
            <a:ext cx="7068312" cy="758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  <a:r>
              <a:rPr lang="hu-HU" dirty="0"/>
              <a:t>Author: Klara Szűcsné Markovics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33" y="3436487"/>
            <a:ext cx="4253399" cy="1740114"/>
          </a:xfrm>
        </p:spPr>
        <p:txBody>
          <a:bodyPr/>
          <a:lstStyle/>
          <a:p>
            <a:r>
              <a:rPr lang="en-US" altLang="zh-CN" dirty="0"/>
              <a:t>Agenda for discussion 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Methodology Used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Group 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5"/>
            <a:ext cx="5117162" cy="1325563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343479"/>
            <a:ext cx="10976206" cy="487444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Klara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Szűcsné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Markovics, Faculty of Economics, University of Miskolc, Hungary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Universal Journal of Management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2016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Background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reviews capital budgeting techniques used by corporate decision-makers in Europe and the United States.</a:t>
            </a:r>
          </a:p>
          <a:p>
            <a:pPr marL="10287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empirical findings across countries and includes original survey results from Hungary.</a:t>
            </a:r>
          </a:p>
          <a:p>
            <a:pPr marL="10287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arises because investment decision methods differ across countries, industries, and firm sizes, and research findings are often inconsistent.</a:t>
            </a:r>
          </a:p>
          <a:p>
            <a:pPr marL="1028700" lvl="1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identifying the most frequently applied indicators in practice.</a:t>
            </a:r>
          </a:p>
          <a:p>
            <a:pPr marL="10287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AC5D6-0A69-6F4F-8D7E-27AFEE59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7FD7F5-50C0-0686-871D-F316FCBCB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5696650" cy="1219548"/>
          </a:xfrm>
        </p:spPr>
        <p:txBody>
          <a:bodyPr/>
          <a:lstStyle/>
          <a:p>
            <a:r>
              <a:rPr lang="en-US" altLang="zh-CN" dirty="0"/>
              <a:t>Objective of the Study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8FF2CD3-5823-0F3B-2A7F-C1B8497928C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comprehensive review and comparison of capital budgeting methods used by corporate managers in Europe and the US.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commonly used investment appraisal techniques.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practices across countries and regions.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empirical findings from international surveys and Hungarian research.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five major indicators: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Payback Period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Accounting Rate of Return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Rate of Return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Present Value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Index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3F35A-433F-F9CA-24F7-296083B1561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0DD2E-8573-8BEF-5D4E-0A8248B75BA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346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DAC0-5F87-97B3-23E5-65AFBF9F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E6F492-3434-87F6-B2F4-FF2F6F3C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altLang="zh-CN" dirty="0"/>
              <a:t>Methodology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DCF557-6E25-5C2C-FC04-DE5B77FB4CD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Population: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population considered in the article comprises corporate managers and business firms, examined through empirical studies conducted across Europe, the United States, and Hungary. These studies focused on decision-makers responsible for capital budgeting and investment evaluation practices.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Sample: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sizes varied: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studies had hundreds of respondents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 fewer than 100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rate: 22.1%</a:t>
            </a:r>
          </a:p>
          <a:p>
            <a:pPr marL="457200" lvl="1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Hungarian empirical study 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method: Stratified sampling based on turnover categories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Firms contacted: 1500 total</a:t>
            </a:r>
          </a:p>
          <a:p>
            <a:pPr marL="1371600" lvl="3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Postal questionnaires: 500</a:t>
            </a:r>
          </a:p>
          <a:p>
            <a:pPr marL="1371600" lvl="3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Online/email distribution: 1000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responses: 76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rate: 5.1%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8FDFE-B10D-97A3-44FB-769DF91C6BA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22659-1BC9-5893-EA63-693E2D2349FD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733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7898E2-3FD6-BF28-AE87-658A9C3A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52" y="1628963"/>
            <a:ext cx="6809453" cy="27755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53BCD2-1184-B9F6-377C-41C43BE10ED3}"/>
              </a:ext>
            </a:extLst>
          </p:cNvPr>
          <p:cNvSpPr txBox="1"/>
          <p:nvPr/>
        </p:nvSpPr>
        <p:spPr>
          <a:xfrm>
            <a:off x="3323834" y="4494216"/>
            <a:ext cx="6543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Indicators most frequently used for evaluating the economic efficiency of investments in Hungary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5253DAB-2136-FF72-4437-91C744D9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altLang="zh-CN" dirty="0"/>
              <a:t>Methodology..(</a:t>
            </a:r>
            <a:r>
              <a:rPr lang="en-US" altLang="zh-CN" dirty="0" err="1"/>
              <a:t>cont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109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405B7-DF73-47FE-45F5-566EB8E8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5E552C-3828-AC19-2479-678A39F826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54989"/>
            <a:ext cx="11387458" cy="5076985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Collection &amp; Sources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questionnaires distributed through: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Postal mail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Online/email hyperlinks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telephone contact used in some cases to increase response rates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respondents: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managers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decision-makers responsible for investment planning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from previous empirical research studies across multiple countries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survey results and academic literature on capital budgeting practices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Structure</a:t>
            </a: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conducted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cross-sectional surveys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Hungarian survey carried out in summer 2012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A6B17-E0D3-581A-56BF-7AD60BE475D6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F234F-8878-37C9-B9E6-9D275A533A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530B4D48-994E-3DF3-438E-CD1318F2B1B0}"/>
              </a:ext>
            </a:extLst>
          </p:cNvPr>
          <p:cNvSpPr txBox="1">
            <a:spLocks/>
          </p:cNvSpPr>
          <p:nvPr/>
        </p:nvSpPr>
        <p:spPr>
          <a:xfrm>
            <a:off x="607897" y="274956"/>
            <a:ext cx="6903948" cy="1219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Methodology..(cont)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24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6EED-9847-C860-E96E-D5B74E06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3884D32-C7EB-7DA9-7CAA-C5C898C024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54989"/>
            <a:ext cx="11387458" cy="5076985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Tools &amp; Techniques for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article and referenced studies applied several analytical approaches: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statistical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of capital budgeting methods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comparison across firms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cross-country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practices between Europe and the 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methodological differences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regression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referenced studies to examine factors influencing method selection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Spreadsheet/statistical software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and tabulation of survey responses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5B5B4-C11F-A7FC-0C31-39263383229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0E407-076A-4007-FA9B-AB2270A01CB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620336B-EF93-D045-A896-96C45F8ACCED}"/>
              </a:ext>
            </a:extLst>
          </p:cNvPr>
          <p:cNvSpPr txBox="1">
            <a:spLocks/>
          </p:cNvSpPr>
          <p:nvPr/>
        </p:nvSpPr>
        <p:spPr>
          <a:xfrm>
            <a:off x="607897" y="274956"/>
            <a:ext cx="6903948" cy="1219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Methodology..(cont)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9FCF0-63A1-118C-2ADE-12A089FF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935" y="2807006"/>
            <a:ext cx="4816930" cy="162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2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4021-9D6F-9D49-C2F1-177F1EC9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BC8180-BBCF-756B-6220-B9D822BE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altLang="zh-CN" dirty="0"/>
              <a:t>Methodology (Overview)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E3083CC-245C-2A6E-7736-1921DD1B079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r>
              <a:rPr lang="en-US" dirty="0"/>
              <a:t>1️⃣ Payback period remains widely used across Europe and the US despite theoretical limitations.</a:t>
            </a:r>
            <a:br>
              <a:rPr lang="en-US" dirty="0"/>
            </a:br>
            <a:r>
              <a:rPr lang="en-US" dirty="0"/>
              <a:t>2️⃣ Net Present Value (NPV) and Internal Rate of Return (IRR) are the most frequently applied discounted cash-flow techniques.</a:t>
            </a:r>
            <a:br>
              <a:rPr lang="en-US" dirty="0"/>
            </a:br>
            <a:r>
              <a:rPr lang="en-US" dirty="0"/>
              <a:t>3️⃣ Preferences vary by country — e.g., profitability index used more in France and Hungary.</a:t>
            </a:r>
            <a:br>
              <a:rPr lang="en-US" dirty="0"/>
            </a:br>
            <a:r>
              <a:rPr lang="en-US" dirty="0"/>
              <a:t>4️⃣ Larger firms tend to use sophisticated methods like NPV and IRR more than small firms.</a:t>
            </a:r>
            <a:br>
              <a:rPr lang="en-US" dirty="0"/>
            </a:br>
            <a:r>
              <a:rPr lang="en-US" dirty="0"/>
              <a:t>5️⃣ Manager characteristics (education, experience) and firm features influence method selection.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AE255-3E14-309B-58A8-27B857BDA53F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9A9A2-D67C-38F6-7073-DB1D019E07B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13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7D4B-D0DE-3F90-A0D4-B26ABE85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7A7328-6427-8C3F-A48A-0AC08FD1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7C2D444-A580-9CBC-98A1-B03A02AF38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Payback period remains widely used across Europe and the US despite theoretical limitations.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Net Present Value (NPV) and Internal Rate of Return (IRR) are the most frequently applied discounted cash-flow techniques.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DD126-8BDF-8706-39D4-E6AAE9C1F96F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F31F1-24F3-35A9-A972-E341BD639C5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CA511-C0C9-E163-27E0-F0D6F0EBC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38" y="1622323"/>
            <a:ext cx="4887007" cy="1952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C4DCCA-7DE3-7D2A-B678-9EDE8F83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161" y="4318854"/>
            <a:ext cx="4996440" cy="18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9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3B71-C339-548E-C12C-E36E489F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6502A2F-E6F1-6F65-2245-02446D07168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Preferences vary by country, i.e., the profitability index is used more in France and Hungary.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Firm size significantly influences method selection: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firms tend to use non-discounted methods.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corporations prefer discounted techniques such as NPV and IRR.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use of advanced capital budgeting methods is higher in firms with: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Better-qualified financial staff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size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exchange listing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leverage and growth opportunities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65C8C-7C75-DB94-9567-6E084AFD808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A11C9-809D-34F3-A2A4-9306B09DAF7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161930B-63C5-F7DC-774B-F81866C98C76}"/>
              </a:ext>
            </a:extLst>
          </p:cNvPr>
          <p:cNvSpPr txBox="1">
            <a:spLocks/>
          </p:cNvSpPr>
          <p:nvPr/>
        </p:nvSpPr>
        <p:spPr>
          <a:xfrm>
            <a:off x="607897" y="274956"/>
            <a:ext cx="6903948" cy="12195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Key Findings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3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79E8-C53D-E79E-A8A1-DDABC00E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CB39D6-064D-353A-2730-2DA55A4E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dirty="0"/>
              <a:t>Limitations of the Study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9B66435-B1F0-7A4D-53F0-A8BAA88ADC9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 in research methodologies across reviewed studies.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sample size and sector representation.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questionnaire response rates in some surveys.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standardization in defining and calculating indicators.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Cross-country variations limit direct comparability.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studies focused only on selected indicators, not all methods.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AC685-9259-B2C9-7C11-7878E31152A3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B402C-E60E-5E47-425E-B21D3925A8A1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041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836A-65C8-CA23-44D4-43B44768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FDEE2-3363-14F4-6596-5010E343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6903948" cy="1219548"/>
          </a:xfrm>
        </p:spPr>
        <p:txBody>
          <a:bodyPr/>
          <a:lstStyle/>
          <a:p>
            <a:r>
              <a:rPr lang="en-US" dirty="0"/>
              <a:t>Conclusion</a:t>
            </a:r>
            <a:endParaRPr lang="en-US" altLang="zh-C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4E3E9-BC91-FC34-23EA-466DBDCF35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15660"/>
            <a:ext cx="11387458" cy="4874441"/>
          </a:xfrm>
        </p:spPr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budgeting practices differ across regions and firms.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and modern methods coexist in decision-making.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Discounted cash-flow techniques are gaining importance but simpler methods remain popular.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size, market conditions, and managerial background shape method choice.</a:t>
            </a:r>
          </a:p>
          <a:p>
            <a:pPr marL="514350" indent="-514350">
              <a:buFont typeface="+mj-lt"/>
              <a:buAutoNum type="romanL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FEB0C-A1C4-258D-32A9-6F1D88A9A22D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1385D-252D-FD96-DD26-C8E799A9929C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825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3B39-8E4E-C489-FCCC-1B0D0A8F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FB518E-6FB9-FBD3-5458-55984D97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274956"/>
            <a:ext cx="7641368" cy="1219548"/>
          </a:xfrm>
        </p:spPr>
        <p:txBody>
          <a:bodyPr/>
          <a:lstStyle/>
          <a:p>
            <a:r>
              <a:rPr lang="en-US" dirty="0"/>
              <a:t>Conclusion Considering Nepal</a:t>
            </a:r>
            <a:endParaRPr lang="en-US" altLang="zh-C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308C0A6-FE23-5289-3EE5-3297677BE39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1264821"/>
            <a:ext cx="11387458" cy="4874441"/>
          </a:xfrm>
        </p:spPr>
        <p:txBody>
          <a:bodyPr/>
          <a:lstStyle/>
          <a:p>
            <a:pPr marL="514350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Nepalese firms, especially SMEs, largely rely on simple methods like Payback Period due to limited analytical resources.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advanced techniques such as NPV and IRR could significantly improve investment decision quality.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particularly important for capital-intensive sectors in Nepal (hydropower, infrastructure, tourism,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-processing).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literacy, managerial training, and education need strengthening to support better capital budgeting practices.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structured investment appraisal and further Nepal-focused research can enhance long-term financial sustainability and economic development.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E1DA6-E7DC-5B6F-19F5-0458DDFA271A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 dirty="0"/>
              <a:t>Group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0CE62-28CD-8857-97B4-06036821ACF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82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“Business opportunities are like buses. There’s always another one coming.”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Richard Branson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 noProof="0" dirty="0"/>
              <a:t>Group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77" y="1683874"/>
            <a:ext cx="5663380" cy="1325563"/>
          </a:xfrm>
        </p:spPr>
        <p:txBody>
          <a:bodyPr/>
          <a:lstStyle/>
          <a:p>
            <a:r>
              <a:rPr lang="en-US" sz="11500" dirty="0">
                <a:solidFill>
                  <a:srgbClr val="0070C0"/>
                </a:solidFill>
                <a:latin typeface="Blackadder ITC" panose="04020505051007020D02" pitchFamily="82" charset="0"/>
              </a:rPr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502" y="2502098"/>
            <a:ext cx="1465840" cy="1289394"/>
          </a:xfrm>
        </p:spPr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7030A0"/>
                </a:solidFill>
                <a:latin typeface="Bodoni MT Condensed" panose="02070606080606020203" pitchFamily="18" charset="0"/>
              </a:rPr>
              <a:t>Group 3</a:t>
            </a:r>
          </a:p>
          <a:p>
            <a:r>
              <a:rPr lang="en-US" sz="2400" dirty="0">
                <a:solidFill>
                  <a:srgbClr val="7030A0"/>
                </a:solidFill>
                <a:latin typeface="Bodoni MT Condensed" panose="02070606080606020203" pitchFamily="18" charset="0"/>
              </a:rPr>
              <a:t>Symphony</a:t>
            </a:r>
          </a:p>
          <a:p>
            <a:endParaRPr lang="en-US" sz="2400" dirty="0">
              <a:solidFill>
                <a:srgbClr val="7030A0"/>
              </a:solidFill>
            </a:endParaRPr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411</TotalTime>
  <Words>986</Words>
  <Application>Microsoft Office PowerPoint</Application>
  <PresentationFormat>Widescreen</PresentationFormat>
  <Paragraphs>170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等线</vt:lpstr>
      <vt:lpstr>Abadi</vt:lpstr>
      <vt:lpstr>Arial</vt:lpstr>
      <vt:lpstr>Blackadder ITC</vt:lpstr>
      <vt:lpstr>Bodoni MT Condensed</vt:lpstr>
      <vt:lpstr>Calibri</vt:lpstr>
      <vt:lpstr>Posterama Text Black</vt:lpstr>
      <vt:lpstr>Posterama Text SemiBold</vt:lpstr>
      <vt:lpstr>Times New Roman</vt:lpstr>
      <vt:lpstr>Wingdings</vt:lpstr>
      <vt:lpstr>Custom​​</vt:lpstr>
      <vt:lpstr>Capital Budgeting Methods Used in Some European Countries and in the United States</vt:lpstr>
      <vt:lpstr>Agenda for discussion </vt:lpstr>
      <vt:lpstr>Introduction</vt:lpstr>
      <vt:lpstr>Objective of the Study</vt:lpstr>
      <vt:lpstr>Methodology</vt:lpstr>
      <vt:lpstr>Methodology..(cont)</vt:lpstr>
      <vt:lpstr>PowerPoint Presentation</vt:lpstr>
      <vt:lpstr>PowerPoint Presentation</vt:lpstr>
      <vt:lpstr>Methodology (Overview)</vt:lpstr>
      <vt:lpstr>Key Findings</vt:lpstr>
      <vt:lpstr>PowerPoint Presentation</vt:lpstr>
      <vt:lpstr>Limitations of the Study</vt:lpstr>
      <vt:lpstr>Conclusion</vt:lpstr>
      <vt:lpstr>Conclusion Considering Nepal</vt:lpstr>
      <vt:lpstr>“Business opportunities are like buses. There’s always another one coming.”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 Raj Joshi</dc:creator>
  <cp:lastModifiedBy>Lalit Raj Joshi</cp:lastModifiedBy>
  <cp:revision>1</cp:revision>
  <dcterms:created xsi:type="dcterms:W3CDTF">2026-02-09T16:58:05Z</dcterms:created>
  <dcterms:modified xsi:type="dcterms:W3CDTF">2026-02-09T23:49:14Z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